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Estrategia Data-Driven para Expansión de Sucursales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Ejecutiva para Comité de Dirección</a:t>
            </a:r>
          </a:p>
          <a:p>
            <a:r>
              <a:t>Candidato: Gerencia de Data Science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Filosofía: De la Recuperación a la Expansión (El Enfoque SECORSE)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Aplicamos el mismo rigor del core business al crecimiento:</a:t>
            </a:r>
          </a:p>
          <a:p>
            <a:pPr lvl="1"/>
            <a:r>
              <a:t>• Valor Neto Esperado (VNE): Así como optimizamos la 'Recuperación Esperada' en cobranza (Probabilidad de Pago × Balance), aquí maximizamos (Tráfico Peatonal × Ticket Promedio) - Canibalización.</a:t>
            </a:r>
          </a:p>
          <a:p>
            <a:pPr lvl="1"/>
            <a:r>
              <a:t>• Capacity Planning y Ramp-up: Prevemos el flujo y el tiempo de estabilización operativa (maduración a 12 meses).</a:t>
            </a:r>
          </a:p>
          <a:p>
            <a:pPr lvl="1"/>
            <a:r>
              <a:t>• Champion/Challenger: El modelo base de la ciudad es nuestro 'Champion', pero las características microlocales de la zona operan como nuestro 'Challenger' para ajustar el score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 Analítico y Solución de 2 Niveles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Identificamos una oportunidad en la resolución de los datos:</a:t>
            </a:r>
          </a:p>
          <a:p>
            <a:pPr lvl="1"/>
            <a:r>
              <a:t>1. Hallazgo: Las sucursales históricas carecen de coordenadas exactas, limitando el modelado de radio de influencia tradicional.</a:t>
            </a:r>
          </a:p>
          <a:p>
            <a:pPr lvl="1"/>
            <a:r>
              <a:t>2. Solución - Modelo Híbrido:</a:t>
            </a:r>
          </a:p>
          <a:p>
            <a:pPr lvl="2"/>
            <a:r>
              <a:t>  Nivel 1 (Macrolocal): Modelo de anclaje basado en la venta promedio de la plaza/ciudad (Comprobado con validación estadística).</a:t>
            </a:r>
          </a:p>
          <a:p>
            <a:pPr lvl="2"/>
            <a:r>
              <a:t>  Nivel 2 (Microlocal): Índice ZAI (Zone Attractiveness Index). Ajusta la venta hasta un ±25% evaluando población, tráfico y competencia en la zona específica.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Supuestos Base del 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Fundamentados en benchmark de mercado e industria retail en México:</a:t>
            </a:r>
          </a:p>
          <a:p>
            <a:pPr lvl="1"/>
            <a:r>
              <a:t>• Formato y Capex: Local de 100 m² con un costo de habilitación (Capex) de $12,000 MXN / m² = Inversión total de $1.2M MXN.</a:t>
            </a:r>
          </a:p>
          <a:p>
            <a:pPr lvl="1"/>
            <a:r>
              <a:t>• Renta: Tasada por metro cuadrado según el valor de mercado de cada zona candidata (CBRE/Solili).</a:t>
            </a:r>
          </a:p>
          <a:p>
            <a:pPr lvl="1"/>
            <a:r>
              <a:t>• Margen y Operación: Margen Bruto del 65% (post-COGS). Costos operativos fijos (Staff, luz) al 25%.</a:t>
            </a:r>
          </a:p>
          <a:p>
            <a:pPr lvl="1"/>
            <a:r>
              <a:t>• Ramp-up de Maduración: Arranque al 50% de ventas, llegando a estabilización (100%) en el mes 12 (Promedio año 1: 75%).</a:t>
            </a:r>
          </a:p>
          <a:p>
            <a:pPr lvl="1"/>
            <a:r>
              <a:t>• Meta Financiera: Recuperación de Inversión (Payback) &lt; 24 meses.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Top 5 Zonas Ganadoras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zonas con el Valor Neto Esperado (VNE) más alto, superando ampliamente la meta de 24 meses:</a:t>
            </a:r>
          </a:p>
          <a:p>
            <a:pPr lvl="1"/>
            <a:r>
              <a:t>• Z04 (Puebla):</a:t>
            </a:r>
          </a:p>
          <a:p>
            <a:pPr lvl="2"/>
            <a:r>
              <a:t>  Ventas Proy: $1,141,628 | Utilidad Mensual: $409,751 | Payback: 5.9 meses</a:t>
            </a:r>
          </a:p>
          <a:p>
            <a:pPr lvl="1"/>
            <a:r>
              <a:t>• Z06 (Querétaro):</a:t>
            </a:r>
          </a:p>
          <a:p>
            <a:pPr lvl="2"/>
            <a:r>
              <a:t>  Ventas Proy: $1,056,135 | Utilidad Mensual: $398,254 | Payback: 6.0 meses</a:t>
            </a:r>
          </a:p>
          <a:p>
            <a:pPr lvl="1"/>
            <a:r>
              <a:t>• Z17 (Puebla):</a:t>
            </a:r>
          </a:p>
          <a:p>
            <a:pPr lvl="2"/>
            <a:r>
              <a:t>  Ventas Proy: $1,046,652 | Utilidad Mensual: $346,261 | Payback: 6.5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End-to-End (Ecosistema 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Ciclo de vida completo del dato, desde la ingesta hasta la inferencia:</a:t>
            </a:r>
          </a:p>
          <a:p>
            <a:pPr lvl="1"/>
            <a:r>
              <a:t>• Ingesta (Data Engineering): Pipeline automatizado (SQLAlchemy) que consolida datos crudos hacia un Data Warehouse en SQL Server.</a:t>
            </a:r>
          </a:p>
          <a:p>
            <a:pPr lvl="1"/>
            <a:r>
              <a:t>• Orquestación (MLOps): Azure ML se alimenta de Vistas Analíticas de SQL, controlando el entrenamiento y versionado con MLflow.</a:t>
            </a:r>
          </a:p>
          <a:p>
            <a:pPr lvl="1"/>
            <a:r>
              <a:t>• Despliegue (Model Serving): El modelo se contenedoriza en Docker y se expone vía FastAPI para integraciones y tableros de Power BI.</a:t>
            </a:r>
          </a:p>
          <a:p>
            <a:pPr lvl="1"/>
            <a:r>
              <a:t>• Resiliencia Operativa: Mecanismo 'Fallback'; si la BDD presenta intermitencia, el sistema procesa en memoria local sin detenerse.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